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69" r:id="rId2"/>
    <p:sldId id="270" r:id="rId3"/>
    <p:sldId id="256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50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6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6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93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84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63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41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10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3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0546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99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570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113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943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21C2C-B3A7-4B36-AD39-9DCB299C5C21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832CF6F-ACEC-4278-A11B-18395328B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42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229A-B5BF-8A0C-74B2-7CD47B02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37160"/>
            <a:ext cx="8911687" cy="854170"/>
          </a:xfrm>
        </p:spPr>
        <p:txBody>
          <a:bodyPr/>
          <a:lstStyle/>
          <a:p>
            <a:r>
              <a:rPr lang="en-IN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7701-AE41-E34E-7B9A-10EC63C3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91330"/>
            <a:ext cx="8915400" cy="58666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 Analysis</a:t>
            </a:r>
            <a:r>
              <a:rPr lang="en-US" dirty="0"/>
              <a:t> means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studying data to find useful information and answers.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🔍 What does a Data Analysis do?</a:t>
            </a:r>
          </a:p>
          <a:p>
            <a:pPr marL="0" indent="0">
              <a:buNone/>
            </a:pPr>
            <a:r>
              <a:rPr lang="en-US" dirty="0"/>
              <a:t>Collect data, Clean data (remove errors)</a:t>
            </a:r>
          </a:p>
          <a:p>
            <a:pPr marL="0" indent="0">
              <a:buNone/>
            </a:pPr>
            <a:r>
              <a:rPr lang="en-US" dirty="0"/>
              <a:t>Analyze data</a:t>
            </a:r>
          </a:p>
          <a:p>
            <a:pPr marL="0" indent="0">
              <a:buNone/>
            </a:pPr>
            <a:r>
              <a:rPr lang="en-US" dirty="0"/>
              <a:t>Create charts and reports</a:t>
            </a:r>
          </a:p>
          <a:p>
            <a:pPr marL="0" indent="0">
              <a:buNone/>
            </a:pPr>
            <a:r>
              <a:rPr lang="en-US" dirty="0"/>
              <a:t>Help in decision making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🛠 Tools Used:</a:t>
            </a:r>
          </a:p>
          <a:p>
            <a:pPr marL="0" indent="0">
              <a:buNone/>
            </a:pPr>
            <a:r>
              <a:rPr lang="en-IN" dirty="0"/>
              <a:t>Excel, SQL, Python (Pandas, Matplotlib)</a:t>
            </a:r>
          </a:p>
          <a:p>
            <a:pPr marL="0" indent="0">
              <a:buNone/>
            </a:pPr>
            <a:r>
              <a:rPr lang="en-IN" dirty="0"/>
              <a:t>Power BI / Tableau</a:t>
            </a:r>
          </a:p>
          <a:p>
            <a:pPr marL="0" indent="0">
              <a:buNone/>
            </a:pPr>
            <a:r>
              <a:rPr lang="en-US" b="1" dirty="0"/>
              <a:t>📌 Example:</a:t>
            </a:r>
          </a:p>
          <a:p>
            <a:pPr marL="0" indent="0">
              <a:buNone/>
            </a:pPr>
            <a:r>
              <a:rPr lang="en-US" dirty="0"/>
              <a:t>A shop owner wants to know:</a:t>
            </a:r>
          </a:p>
          <a:p>
            <a:pPr marL="0" indent="0">
              <a:buNone/>
            </a:pPr>
            <a:r>
              <a:rPr lang="en-US" dirty="0"/>
              <a:t> Which product sells the most?</a:t>
            </a:r>
          </a:p>
          <a:p>
            <a:pPr marL="0" indent="0">
              <a:buNone/>
            </a:pPr>
            <a:r>
              <a:rPr lang="en-US" dirty="0"/>
              <a:t> On which day sales are highest?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7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D2E8B-D0F9-A559-8C0F-2F812F5D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5942-F5D0-BB69-071A-8889E9FB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10750"/>
            <a:ext cx="8911687" cy="701770"/>
          </a:xfrm>
        </p:spPr>
        <p:txBody>
          <a:bodyPr/>
          <a:lstStyle/>
          <a:p>
            <a:r>
              <a:rPr lang="en-IN" dirty="0"/>
              <a:t>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7B7E-DE4D-203A-6E6A-1C19DD6A1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7320"/>
            <a:ext cx="8915400" cy="544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Science</a:t>
            </a:r>
            <a:r>
              <a:rPr lang="en-US" dirty="0"/>
              <a:t> means</a:t>
            </a:r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using data + programming + mathematics to predict future outcomes.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dirty="0"/>
              <a:t>🤖 What does a Data Scientist do?</a:t>
            </a:r>
          </a:p>
          <a:p>
            <a:pPr marL="0" indent="0">
              <a:buNone/>
            </a:pPr>
            <a:r>
              <a:rPr lang="en-US" dirty="0"/>
              <a:t>Analyze large data</a:t>
            </a:r>
          </a:p>
          <a:p>
            <a:pPr marL="0" indent="0">
              <a:buNone/>
            </a:pPr>
            <a:r>
              <a:rPr lang="en-US" dirty="0"/>
              <a:t>Use Machine Learning</a:t>
            </a:r>
          </a:p>
          <a:p>
            <a:pPr marL="0" indent="0">
              <a:buNone/>
            </a:pPr>
            <a:r>
              <a:rPr lang="en-US" dirty="0"/>
              <a:t>Build prediction models</a:t>
            </a:r>
          </a:p>
          <a:p>
            <a:pPr marL="0" indent="0">
              <a:buNone/>
            </a:pPr>
            <a:r>
              <a:rPr lang="en-US" dirty="0"/>
              <a:t>Find hidden patterns</a:t>
            </a:r>
          </a:p>
          <a:p>
            <a:pPr marL="0" indent="0">
              <a:buNone/>
            </a:pPr>
            <a:r>
              <a:rPr lang="en-US" dirty="0"/>
              <a:t>Make future predictions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📌 Example:</a:t>
            </a:r>
          </a:p>
          <a:p>
            <a:pPr marL="0" indent="0">
              <a:buNone/>
            </a:pPr>
            <a:r>
              <a:rPr lang="en-IN" dirty="0"/>
              <a:t>Netflix recommends movies.</a:t>
            </a:r>
          </a:p>
          <a:p>
            <a:pPr marL="0" indent="0">
              <a:buNone/>
            </a:pPr>
            <a:r>
              <a:rPr lang="en-IN" dirty="0"/>
              <a:t>Predict next exam 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638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262B-33AE-1395-FAEF-2D28D0D5A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382475"/>
            <a:ext cx="8915399" cy="1050887"/>
          </a:xfrm>
        </p:spPr>
        <p:txBody>
          <a:bodyPr/>
          <a:lstStyle/>
          <a:p>
            <a:r>
              <a:rPr lang="en-IN" dirty="0"/>
              <a:t>1️⃣ Python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21940-5660-1A30-0151-15E2A3781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533" y="1920240"/>
            <a:ext cx="7941627" cy="4191000"/>
          </a:xfrm>
        </p:spPr>
        <p:txBody>
          <a:bodyPr>
            <a:normAutofit/>
          </a:bodyPr>
          <a:lstStyle/>
          <a:p>
            <a:r>
              <a:rPr lang="en-US" b="1" dirty="0"/>
              <a:t>Python</a:t>
            </a:r>
            <a:r>
              <a:rPr lang="en-US" dirty="0"/>
              <a:t> is a simple and easy programming language used for:</a:t>
            </a:r>
          </a:p>
          <a:p>
            <a:r>
              <a:rPr lang="en-US" dirty="0"/>
              <a:t>Data Science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Web Development</a:t>
            </a:r>
          </a:p>
          <a:p>
            <a:r>
              <a:rPr lang="en-US" dirty="0"/>
              <a:t>Automation</a:t>
            </a:r>
          </a:p>
          <a:p>
            <a:endParaRPr lang="en-US" dirty="0"/>
          </a:p>
          <a:p>
            <a:r>
              <a:rPr lang="en-US" b="1" dirty="0"/>
              <a:t>Basic Python Program</a:t>
            </a:r>
          </a:p>
          <a:p>
            <a:r>
              <a:rPr lang="en-US" dirty="0"/>
              <a:t>print("Hello World")</a:t>
            </a:r>
          </a:p>
          <a:p>
            <a:r>
              <a:rPr lang="en-US" dirty="0"/>
              <a:t>➡️ This prints </a:t>
            </a:r>
            <a:r>
              <a:rPr lang="en-US" b="1" dirty="0"/>
              <a:t>Hello World</a:t>
            </a:r>
            <a:r>
              <a:rPr lang="en-US" dirty="0"/>
              <a:t>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156640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B352-992E-F782-D5B2-FC3E5635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0F279E-AE1A-BFC1-1046-FDB99BEF1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146" y="2024515"/>
            <a:ext cx="4771707" cy="3370445"/>
          </a:xfrm>
        </p:spPr>
        <p:txBody>
          <a:bodyPr/>
          <a:lstStyle/>
          <a:p>
            <a:r>
              <a:rPr lang="en-US" b="1" dirty="0"/>
              <a:t>Variables</a:t>
            </a:r>
          </a:p>
          <a:p>
            <a:endParaRPr lang="en-US" b="1" dirty="0"/>
          </a:p>
          <a:p>
            <a:r>
              <a:rPr lang="en-US" dirty="0"/>
              <a:t>Variables store data.</a:t>
            </a:r>
          </a:p>
          <a:p>
            <a:r>
              <a:rPr lang="en-US" dirty="0"/>
              <a:t>x = 10</a:t>
            </a:r>
          </a:p>
          <a:p>
            <a:r>
              <a:rPr lang="en-US" dirty="0"/>
              <a:t>name = "Jay"</a:t>
            </a:r>
          </a:p>
          <a:p>
            <a:r>
              <a:rPr lang="en-US" dirty="0"/>
              <a:t>x stores a number</a:t>
            </a:r>
          </a:p>
          <a:p>
            <a:r>
              <a:rPr lang="en-US" dirty="0"/>
              <a:t>name stores text</a:t>
            </a:r>
          </a:p>
        </p:txBody>
      </p:sp>
    </p:spTree>
    <p:extLst>
      <p:ext uri="{BB962C8B-B14F-4D97-AF65-F5344CB8AC3E}">
        <p14:creationId xmlns:p14="http://schemas.microsoft.com/office/powerpoint/2010/main" val="3058992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3774-DEF3-51C6-4FBF-5E79A6E3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D34C-E1E9-0FA5-BCA3-69C660CE9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489155"/>
            <a:ext cx="8915399" cy="1050887"/>
          </a:xfrm>
        </p:spPr>
        <p:txBody>
          <a:bodyPr/>
          <a:lstStyle/>
          <a:p>
            <a:r>
              <a:rPr lang="en-US" dirty="0"/>
              <a:t>2️⃣ Data Types in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BAF1F-E23B-3147-3750-A75DEA873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2085475"/>
            <a:ext cx="8915399" cy="3818188"/>
          </a:xfrm>
        </p:spPr>
        <p:txBody>
          <a:bodyPr/>
          <a:lstStyle/>
          <a:p>
            <a:r>
              <a:rPr lang="en-US" dirty="0"/>
              <a:t>Data types tell Python </a:t>
            </a:r>
            <a:r>
              <a:rPr lang="en-US" b="1" dirty="0"/>
              <a:t>what kind of data</a:t>
            </a:r>
            <a:r>
              <a:rPr lang="en-US" dirty="0"/>
              <a:t> is stored.</a:t>
            </a:r>
          </a:p>
          <a:p>
            <a:endParaRPr lang="en-US" dirty="0"/>
          </a:p>
          <a:p>
            <a:r>
              <a:rPr lang="en-IN" dirty="0"/>
              <a:t>Common Data Types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61D0291-3B6C-CCC8-32C1-8E25D0506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064556"/>
              </p:ext>
            </p:extLst>
          </p:nvPr>
        </p:nvGraphicFramePr>
        <p:xfrm>
          <a:off x="2589213" y="3535680"/>
          <a:ext cx="8915400" cy="303276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169238776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3879904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198969467"/>
                    </a:ext>
                  </a:extLst>
                </a:gridCol>
              </a:tblGrid>
              <a:tr h="60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18976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Integer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5990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float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10.5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Decimal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408342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"Python"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94869"/>
                  </a:ext>
                </a:extLst>
              </a:tr>
              <a:tr h="60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True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True /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59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87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B86B-1716-A9E3-D6BD-FE7E5D44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869AD8-A9DB-AB16-BE81-FEF4512AB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0146" y="2024515"/>
            <a:ext cx="4771707" cy="3370445"/>
          </a:xfrm>
        </p:spPr>
        <p:txBody>
          <a:bodyPr/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age = 21        # int</a:t>
            </a:r>
          </a:p>
          <a:p>
            <a:r>
              <a:rPr lang="en-US" dirty="0"/>
              <a:t>price = 99.5   # float</a:t>
            </a:r>
          </a:p>
          <a:p>
            <a:r>
              <a:rPr lang="en-US" dirty="0"/>
              <a:t>course = "AI"  # string</a:t>
            </a:r>
          </a:p>
          <a:p>
            <a:r>
              <a:rPr lang="en-US" dirty="0" err="1"/>
              <a:t>is_student</a:t>
            </a:r>
            <a:r>
              <a:rPr lang="en-US" dirty="0"/>
              <a:t> = True  # </a:t>
            </a:r>
            <a:r>
              <a:rPr lang="en-US" dirty="0" err="1"/>
              <a:t>boolean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6893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88EA-C71D-05E7-8417-0413A8FE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45E7-C9A5-1DFE-3599-FDB7DCD00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489155"/>
            <a:ext cx="8915399" cy="1050887"/>
          </a:xfrm>
        </p:spPr>
        <p:txBody>
          <a:bodyPr/>
          <a:lstStyle/>
          <a:p>
            <a:r>
              <a:rPr lang="en-IN" dirty="0"/>
              <a:t>3️⃣ Operators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020E-4C23-7C69-21D7-3EBB12648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1874520"/>
            <a:ext cx="8915399" cy="4029143"/>
          </a:xfrm>
        </p:spPr>
        <p:txBody>
          <a:bodyPr/>
          <a:lstStyle/>
          <a:p>
            <a:r>
              <a:rPr lang="en-US" dirty="0"/>
              <a:t>Operators are used to </a:t>
            </a:r>
            <a:r>
              <a:rPr lang="en-US" b="1" dirty="0"/>
              <a:t>perform operations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Arithmetic Operators</a:t>
            </a:r>
          </a:p>
          <a:p>
            <a:r>
              <a:rPr lang="en-US" dirty="0"/>
              <a:t>a = 10</a:t>
            </a:r>
          </a:p>
          <a:p>
            <a:r>
              <a:rPr lang="en-US" dirty="0"/>
              <a:t>b = 5</a:t>
            </a:r>
          </a:p>
          <a:p>
            <a:endParaRPr lang="en-US" dirty="0"/>
          </a:p>
          <a:p>
            <a:r>
              <a:rPr lang="en-US" dirty="0"/>
              <a:t>print(a + b)  # Addition → 15</a:t>
            </a:r>
          </a:p>
          <a:p>
            <a:r>
              <a:rPr lang="en-US" dirty="0"/>
              <a:t>print(a - b)  # Subtraction → 5</a:t>
            </a:r>
          </a:p>
          <a:p>
            <a:r>
              <a:rPr lang="en-US" dirty="0"/>
              <a:t>print(a * b)  # Multiplication → 50</a:t>
            </a:r>
          </a:p>
          <a:p>
            <a:r>
              <a:rPr lang="en-US" dirty="0"/>
              <a:t>print(a / b)  # Division → 2.0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64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7FF3-400B-4729-C98D-F86E584E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645734-8837-1B67-783D-0BE56232F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133" y="934368"/>
            <a:ext cx="5609907" cy="4989263"/>
          </a:xfrm>
        </p:spPr>
        <p:txBody>
          <a:bodyPr/>
          <a:lstStyle/>
          <a:p>
            <a:r>
              <a:rPr lang="en-US" b="1" dirty="0"/>
              <a:t>Comparison Operators</a:t>
            </a:r>
          </a:p>
          <a:p>
            <a:r>
              <a:rPr lang="en-US" dirty="0"/>
              <a:t>print(a &gt; b)   # True</a:t>
            </a:r>
          </a:p>
          <a:p>
            <a:r>
              <a:rPr lang="en-US" dirty="0"/>
              <a:t>print(a == b)  # False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Logical Operators</a:t>
            </a:r>
          </a:p>
          <a:p>
            <a:r>
              <a:rPr lang="en-US" dirty="0"/>
              <a:t>x = True</a:t>
            </a:r>
          </a:p>
          <a:p>
            <a:r>
              <a:rPr lang="en-US" dirty="0"/>
              <a:t>y = False</a:t>
            </a:r>
          </a:p>
          <a:p>
            <a:endParaRPr lang="en-US" dirty="0"/>
          </a:p>
          <a:p>
            <a:r>
              <a:rPr lang="en-US" dirty="0"/>
              <a:t>print(x and y)  # False</a:t>
            </a:r>
          </a:p>
          <a:p>
            <a:r>
              <a:rPr lang="en-US" dirty="0"/>
              <a:t>print(x or y)   # True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252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D470-7E20-12C9-85C2-7CDBF903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68E4-092C-84CD-35DD-AB9499A5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489155"/>
            <a:ext cx="8915399" cy="1050887"/>
          </a:xfrm>
        </p:spPr>
        <p:txBody>
          <a:bodyPr>
            <a:normAutofit fontScale="90000"/>
          </a:bodyPr>
          <a:lstStyle/>
          <a:p>
            <a:r>
              <a:rPr lang="en-IN" dirty="0"/>
              <a:t>4️⃣ </a:t>
            </a:r>
            <a:r>
              <a:rPr lang="en-IN" dirty="0" err="1"/>
              <a:t>Jupyter</a:t>
            </a:r>
            <a:r>
              <a:rPr lang="en-IN" dirty="0"/>
              <a:t> Notebook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A77C8-292C-6C41-66B2-5E23A0C1A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920" y="1874520"/>
            <a:ext cx="8715692" cy="4709159"/>
          </a:xfrm>
        </p:spPr>
        <p:txBody>
          <a:bodyPr>
            <a:normAutofit/>
          </a:bodyPr>
          <a:lstStyle/>
          <a:p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is used to write and run Python code step-by-step.</a:t>
            </a:r>
          </a:p>
          <a:p>
            <a:r>
              <a:rPr lang="en-US" b="1" dirty="0"/>
              <a:t>Why </a:t>
            </a:r>
            <a:r>
              <a:rPr lang="en-US" b="1" dirty="0" err="1"/>
              <a:t>Jupyter</a:t>
            </a:r>
            <a:r>
              <a:rPr lang="en-US" b="1" dirty="0"/>
              <a:t>?</a:t>
            </a:r>
          </a:p>
          <a:p>
            <a:r>
              <a:rPr lang="en-US" dirty="0"/>
              <a:t>Easy to use</a:t>
            </a:r>
          </a:p>
          <a:p>
            <a:r>
              <a:rPr lang="en-US" dirty="0"/>
              <a:t>Shows output immediately</a:t>
            </a:r>
          </a:p>
          <a:p>
            <a:r>
              <a:rPr lang="en-US" dirty="0"/>
              <a:t>Best for Data Science</a:t>
            </a:r>
          </a:p>
          <a:p>
            <a:r>
              <a:rPr lang="en-US" b="1" dirty="0"/>
              <a:t>Steps to Setup (Simple)</a:t>
            </a:r>
          </a:p>
          <a:p>
            <a:r>
              <a:rPr lang="en-US" dirty="0"/>
              <a:t>Install Anaconda</a:t>
            </a:r>
          </a:p>
          <a:p>
            <a:r>
              <a:rPr lang="en-US" dirty="0"/>
              <a:t>Open </a:t>
            </a:r>
            <a:r>
              <a:rPr lang="en-US" b="1" dirty="0"/>
              <a:t>Anaconda Navigator</a:t>
            </a:r>
            <a:endParaRPr lang="en-US" dirty="0"/>
          </a:p>
          <a:p>
            <a:r>
              <a:rPr lang="en-US" dirty="0"/>
              <a:t>Click on </a:t>
            </a:r>
            <a:r>
              <a:rPr lang="en-US" b="1" dirty="0"/>
              <a:t>Launch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endParaRPr lang="en-US" dirty="0"/>
          </a:p>
          <a:p>
            <a:r>
              <a:rPr lang="en-US" dirty="0"/>
              <a:t>Create a </a:t>
            </a:r>
            <a:r>
              <a:rPr lang="en-US" b="1" dirty="0"/>
              <a:t>New Python Notebook</a:t>
            </a:r>
            <a:endParaRPr lang="en-US" dirty="0"/>
          </a:p>
          <a:p>
            <a:r>
              <a:rPr lang="en-US" dirty="0"/>
              <a:t>➡️ You can write code in cells and run them using </a:t>
            </a:r>
            <a:r>
              <a:rPr lang="en-US" b="1" dirty="0"/>
              <a:t>Shift + Enter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422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4F15-0221-09E7-2B9F-5C275FE7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FC81-3F9E-E0D0-3291-1AC6A61EC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8920" y="138635"/>
            <a:ext cx="8915399" cy="1050887"/>
          </a:xfrm>
        </p:spPr>
        <p:txBody>
          <a:bodyPr>
            <a:normAutofit/>
          </a:bodyPr>
          <a:lstStyle/>
          <a:p>
            <a:r>
              <a:rPr lang="en-IN" dirty="0"/>
              <a:t>5️⃣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74C6B-C12E-8E4E-F27F-404B0D42A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920" y="1767840"/>
            <a:ext cx="8715692" cy="4815839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stores </a:t>
            </a:r>
            <a:r>
              <a:rPr lang="en-US" b="1" dirty="0"/>
              <a:t>multiple values</a:t>
            </a:r>
            <a:r>
              <a:rPr lang="en-US" dirty="0"/>
              <a:t> in one variable.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marks = [80, 85, 90, 75]</a:t>
            </a:r>
          </a:p>
          <a:p>
            <a:r>
              <a:rPr lang="en-US" b="1" dirty="0"/>
              <a:t>Features</a:t>
            </a:r>
          </a:p>
          <a:p>
            <a:r>
              <a:rPr lang="en-US" dirty="0"/>
              <a:t>Ordered, Changeable, Allows duplicate values</a:t>
            </a:r>
          </a:p>
          <a:p>
            <a:endParaRPr lang="en-US" dirty="0"/>
          </a:p>
          <a:p>
            <a:r>
              <a:rPr lang="en-US" b="1" dirty="0"/>
              <a:t>Access List Elements</a:t>
            </a:r>
          </a:p>
          <a:p>
            <a:r>
              <a:rPr lang="en-US" dirty="0"/>
              <a:t>print(marks[0])  # 80</a:t>
            </a:r>
          </a:p>
          <a:p>
            <a:r>
              <a:rPr lang="en-US" b="1" dirty="0"/>
              <a:t>Modify List</a:t>
            </a:r>
          </a:p>
          <a:p>
            <a:r>
              <a:rPr lang="en-US" dirty="0"/>
              <a:t>marks[1] = 88</a:t>
            </a:r>
          </a:p>
          <a:p>
            <a:r>
              <a:rPr lang="en-US" dirty="0"/>
              <a:t>print(marks)</a:t>
            </a:r>
          </a:p>
        </p:txBody>
      </p:sp>
    </p:spTree>
    <p:extLst>
      <p:ext uri="{BB962C8B-B14F-4D97-AF65-F5344CB8AC3E}">
        <p14:creationId xmlns:p14="http://schemas.microsoft.com/office/powerpoint/2010/main" val="161379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8303-F382-6938-73F2-23C8B19A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56AF-8AD2-5050-3ACB-E9C92ACC6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8920" y="138635"/>
            <a:ext cx="8915399" cy="1050887"/>
          </a:xfrm>
        </p:spPr>
        <p:txBody>
          <a:bodyPr>
            <a:normAutofit/>
          </a:bodyPr>
          <a:lstStyle/>
          <a:p>
            <a:r>
              <a:rPr lang="en-IN" dirty="0"/>
              <a:t>6️⃣ Tuples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B9F0F-10EE-0F59-5274-8B0C76E6B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920" y="1767841"/>
            <a:ext cx="8715692" cy="478536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Tuple</a:t>
            </a:r>
            <a:r>
              <a:rPr lang="en-US" dirty="0"/>
              <a:t> is similar to a list, but </a:t>
            </a:r>
            <a:r>
              <a:rPr lang="en-US" b="1" dirty="0"/>
              <a:t>cannot be changed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colors = ("red", "green", "blue")</a:t>
            </a:r>
          </a:p>
          <a:p>
            <a:endParaRPr lang="en-US" dirty="0"/>
          </a:p>
          <a:p>
            <a:r>
              <a:rPr lang="en-US" b="1" dirty="0"/>
              <a:t>Features</a:t>
            </a:r>
          </a:p>
          <a:p>
            <a:r>
              <a:rPr lang="en-US" dirty="0"/>
              <a:t>Ordered</a:t>
            </a:r>
          </a:p>
          <a:p>
            <a:r>
              <a:rPr lang="en-US" dirty="0"/>
              <a:t>Immutable (cannot modify)</a:t>
            </a:r>
          </a:p>
          <a:p>
            <a:endParaRPr lang="en-US" dirty="0"/>
          </a:p>
          <a:p>
            <a:r>
              <a:rPr lang="en-US" dirty="0"/>
              <a:t>print(colors[1])  # green</a:t>
            </a:r>
          </a:p>
          <a:p>
            <a:r>
              <a:rPr lang="en-US" dirty="0"/>
              <a:t>❌ Cannot change values:</a:t>
            </a:r>
          </a:p>
          <a:p>
            <a:r>
              <a:rPr lang="en-US" dirty="0"/>
              <a:t># colors[1] = "yellow"  ❌ Error</a:t>
            </a:r>
          </a:p>
        </p:txBody>
      </p:sp>
    </p:spTree>
    <p:extLst>
      <p:ext uri="{BB962C8B-B14F-4D97-AF65-F5344CB8AC3E}">
        <p14:creationId xmlns:p14="http://schemas.microsoft.com/office/powerpoint/2010/main" val="272988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13F2-6FC8-4639-AE1E-E75C77FF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BEF2-520C-9501-EBAA-BCA478739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8920" y="138635"/>
            <a:ext cx="8915399" cy="1050887"/>
          </a:xfrm>
        </p:spPr>
        <p:txBody>
          <a:bodyPr>
            <a:normAutofit/>
          </a:bodyPr>
          <a:lstStyle/>
          <a:p>
            <a:r>
              <a:rPr lang="en-IN" dirty="0"/>
              <a:t>7️⃣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AFBEB-20E7-9151-DAC0-7F2FDF22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920" y="1767841"/>
            <a:ext cx="8715692" cy="4572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Set</a:t>
            </a:r>
            <a:r>
              <a:rPr lang="en-US" dirty="0"/>
              <a:t> stores </a:t>
            </a:r>
            <a:r>
              <a:rPr lang="en-US" b="1" dirty="0"/>
              <a:t>unique values only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numbers = {1, 2, 3, 3, 4}</a:t>
            </a:r>
          </a:p>
          <a:p>
            <a:endParaRPr lang="en-US" dirty="0"/>
          </a:p>
          <a:p>
            <a:r>
              <a:rPr lang="en-US" dirty="0"/>
              <a:t>print(numbers)</a:t>
            </a:r>
          </a:p>
          <a:p>
            <a:r>
              <a:rPr lang="en-US" dirty="0"/>
              <a:t>➡️ Output: {1, 2, 3, 4}</a:t>
            </a:r>
          </a:p>
          <a:p>
            <a:endParaRPr lang="en-US" dirty="0"/>
          </a:p>
          <a:p>
            <a:r>
              <a:rPr lang="en-US" b="1" dirty="0"/>
              <a:t>Features</a:t>
            </a:r>
          </a:p>
          <a:p>
            <a:r>
              <a:rPr lang="en-US" dirty="0"/>
              <a:t>Unordered</a:t>
            </a:r>
          </a:p>
          <a:p>
            <a:r>
              <a:rPr lang="en-US" dirty="0"/>
              <a:t>No duplicate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42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19F2-078B-542D-7A99-35C864D4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7A8E-CCC2-2DCE-F975-5C746844F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8920" y="138635"/>
            <a:ext cx="8915399" cy="1050887"/>
          </a:xfrm>
        </p:spPr>
        <p:txBody>
          <a:bodyPr>
            <a:normAutofit/>
          </a:bodyPr>
          <a:lstStyle/>
          <a:p>
            <a:r>
              <a:rPr lang="en-IN" dirty="0"/>
              <a:t>8️⃣ Dictionaries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3D499-D510-CB9D-76A7-59D342079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920" y="1676400"/>
            <a:ext cx="8715692" cy="4907279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Dictionary</a:t>
            </a:r>
            <a:r>
              <a:rPr lang="en-US" dirty="0"/>
              <a:t> stores data in </a:t>
            </a:r>
            <a:r>
              <a:rPr lang="en-US" b="1" dirty="0"/>
              <a:t>key : value</a:t>
            </a:r>
            <a:r>
              <a:rPr lang="en-US" dirty="0"/>
              <a:t> pairs.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student = {</a:t>
            </a:r>
          </a:p>
          <a:p>
            <a:r>
              <a:rPr lang="en-US" dirty="0"/>
              <a:t>    "name": "Jay",</a:t>
            </a:r>
          </a:p>
          <a:p>
            <a:r>
              <a:rPr lang="en-US" dirty="0"/>
              <a:t>    "age": 21,</a:t>
            </a:r>
          </a:p>
          <a:p>
            <a:r>
              <a:rPr lang="en-US" dirty="0"/>
              <a:t>    "course": "Data Science"</a:t>
            </a:r>
          </a:p>
          <a:p>
            <a:r>
              <a:rPr lang="en-US" dirty="0"/>
              <a:t>}</a:t>
            </a:r>
          </a:p>
          <a:p>
            <a:r>
              <a:rPr lang="en-US" b="1" dirty="0"/>
              <a:t>Access Dictionary Data</a:t>
            </a:r>
          </a:p>
          <a:p>
            <a:r>
              <a:rPr lang="en-US" dirty="0"/>
              <a:t>print(student["name"])  # Jay</a:t>
            </a:r>
          </a:p>
          <a:p>
            <a:r>
              <a:rPr lang="en-US" b="1" dirty="0"/>
              <a:t>Modify Dictionary</a:t>
            </a:r>
          </a:p>
          <a:p>
            <a:r>
              <a:rPr lang="en-US" dirty="0"/>
              <a:t>student["age"] = 21</a:t>
            </a:r>
          </a:p>
        </p:txBody>
      </p:sp>
    </p:spTree>
    <p:extLst>
      <p:ext uri="{BB962C8B-B14F-4D97-AF65-F5344CB8AC3E}">
        <p14:creationId xmlns:p14="http://schemas.microsoft.com/office/powerpoint/2010/main" val="150071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7BCA-0149-A349-870B-DF2807A6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88F6-785B-CB8C-A5D5-B9B27AB5A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3160" y="184355"/>
            <a:ext cx="8915399" cy="1050887"/>
          </a:xfrm>
        </p:spPr>
        <p:txBody>
          <a:bodyPr>
            <a:normAutofit fontScale="90000"/>
          </a:bodyPr>
          <a:lstStyle/>
          <a:p>
            <a:r>
              <a:rPr lang="en-IN" dirty="0"/>
              <a:t>🔁 Simple Comparison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54571D-3A02-7A65-9D49-E57549C39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145756"/>
              </p:ext>
            </p:extLst>
          </p:nvPr>
        </p:nvGraphicFramePr>
        <p:xfrm>
          <a:off x="2423160" y="2164080"/>
          <a:ext cx="9431975" cy="3794760"/>
        </p:xfrm>
        <a:graphic>
          <a:graphicData uri="http://schemas.openxmlformats.org/drawingml/2006/table">
            <a:tbl>
              <a:tblPr/>
              <a:tblGrid>
                <a:gridCol w="1886395">
                  <a:extLst>
                    <a:ext uri="{9D8B030D-6E8A-4147-A177-3AD203B41FA5}">
                      <a16:colId xmlns:a16="http://schemas.microsoft.com/office/drawing/2014/main" val="2206850773"/>
                    </a:ext>
                  </a:extLst>
                </a:gridCol>
                <a:gridCol w="1886395">
                  <a:extLst>
                    <a:ext uri="{9D8B030D-6E8A-4147-A177-3AD203B41FA5}">
                      <a16:colId xmlns:a16="http://schemas.microsoft.com/office/drawing/2014/main" val="860422970"/>
                    </a:ext>
                  </a:extLst>
                </a:gridCol>
                <a:gridCol w="1886395">
                  <a:extLst>
                    <a:ext uri="{9D8B030D-6E8A-4147-A177-3AD203B41FA5}">
                      <a16:colId xmlns:a16="http://schemas.microsoft.com/office/drawing/2014/main" val="2292213205"/>
                    </a:ext>
                  </a:extLst>
                </a:gridCol>
                <a:gridCol w="1886395">
                  <a:extLst>
                    <a:ext uri="{9D8B030D-6E8A-4147-A177-3AD203B41FA5}">
                      <a16:colId xmlns:a16="http://schemas.microsoft.com/office/drawing/2014/main" val="2461114304"/>
                    </a:ext>
                  </a:extLst>
                </a:gridCol>
                <a:gridCol w="1886395">
                  <a:extLst>
                    <a:ext uri="{9D8B030D-6E8A-4147-A177-3AD203B41FA5}">
                      <a16:colId xmlns:a16="http://schemas.microsoft.com/office/drawing/2014/main" val="3922084364"/>
                    </a:ext>
                  </a:extLst>
                </a:gridCol>
              </a:tblGrid>
              <a:tr h="75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40602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[ ]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702535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( 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5904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{ }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859747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{key:value}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Keys: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98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1893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</TotalTime>
  <Words>678</Words>
  <Application>Microsoft Office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Courier New</vt:lpstr>
      <vt:lpstr>Wingdings 3</vt:lpstr>
      <vt:lpstr>Wisp</vt:lpstr>
      <vt:lpstr>Data Analysis</vt:lpstr>
      <vt:lpstr>Data Science</vt:lpstr>
      <vt:lpstr>1️⃣ Python Basics</vt:lpstr>
      <vt:lpstr>PowerPoint Presentation</vt:lpstr>
      <vt:lpstr>2️⃣ Data Types in Python</vt:lpstr>
      <vt:lpstr>PowerPoint Presentation</vt:lpstr>
      <vt:lpstr>3️⃣ Operators in Python</vt:lpstr>
      <vt:lpstr>PowerPoint Presentation</vt:lpstr>
      <vt:lpstr>4️⃣ Jupyter Notebook Setup</vt:lpstr>
      <vt:lpstr>5️⃣ Lists</vt:lpstr>
      <vt:lpstr>6️⃣ Tuples</vt:lpstr>
      <vt:lpstr>7️⃣ Sets</vt:lpstr>
      <vt:lpstr>8️⃣ Dictionaries</vt:lpstr>
      <vt:lpstr>🔁 Simple Comparison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Deshmukh</dc:creator>
  <cp:lastModifiedBy>Jay Deshmukh</cp:lastModifiedBy>
  <cp:revision>1</cp:revision>
  <dcterms:created xsi:type="dcterms:W3CDTF">2026-01-02T09:53:33Z</dcterms:created>
  <dcterms:modified xsi:type="dcterms:W3CDTF">2026-01-02T10:32:36Z</dcterms:modified>
</cp:coreProperties>
</file>